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Readiness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 Platform Reach</c:v>
                  </c:pt>
                  <c:pt idx="1">
                    <c:v>Workforce Trained</c:v>
                  </c:pt>
                  <c:pt idx="2">
                    <c:v>KM Integration</c:v>
                  </c:pt>
                  <c:pt idx="3">
                    <c:v>Agentic AI Deployed</c:v>
                  </c:pt>
                  <c:pt idx="4">
                    <c:v>Formal AI Strategy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19</c:v>
                </c:pt>
                <c:pt idx="2">
                  <c:v>28</c:v>
                </c:pt>
                <c:pt idx="3">
                  <c:v>11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set the stage: This project identifies a real productivity gap at Deloitte and proposes a three-tier strategic solution. The goal is to show how AI-powered knowledge management can close the gap between Deloitte and its closest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41% stat — it's from Deloitte's own research. Then walk through the three root causes: limited PairD rollout, skills gap, and siloed knowledge. This slide sets up why action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four numbers to show the size of the prize. The 66% productivity stat and 2.5x revenue stat are your headline numbers. The 34% 'truly reimagining' stat sets up the gap Deloitte needs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bar chart left to right. The key point: Deloitte has strong ambition ($4B investment) but execution is still early-stage. Only 14% agentic AI deployment readiness is your anchor stat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7x training gap is your killer stat on this slide. Spend time on the Employees Trained row. Accenture even monitors weekly AI usage and ties it to promotion decisions — that's how serious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quadrant. The key message: Deloitte has the foundation (PairD, $4B) but Weaknesses and Threats are pressing — especially the competitor gap. Opportunities are concrete and time-sensitive.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5 levels slowly. Pause at the Root Cause: 'No enterprise-wide AI knowledge strategy.' That sentence is your thesis. Everything in the next two slides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tier in order. Emphasise: Tier 1 is a quick win because the technology already exists. Tier 2 is the core structural fix. Tier 3 is the bold long-term play that builds a self-sustaining AI-fluent workforce.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across the timeline. Emphasise the structured sequencing — Phase 1 is quick and low-risk, Phase 2 builds the infrastructure, Phase 3 locks in the capability for the long term. Each milestone has a clear owner and measurable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Recap: You identified a real problem using Deloitte's own data, benchmarked against competitors, traced the root cause, and built a three-phase solution with measurable KPIs. Then open the floor: 'I'd be happy to walk through any section in more detail.'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6358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0C49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274320"/>
            <a:ext cx="1097280" cy="1097280"/>
          </a:xfrm>
          <a:prstGeom prst="ellipse">
            <a:avLst/>
          </a:prstGeom>
          <a:solidFill>
            <a:srgbClr val="00C49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2560320"/>
            <a:ext cx="640080" cy="640080"/>
          </a:xfrm>
          <a:prstGeom prst="ellipse">
            <a:avLst/>
          </a:prstGeom>
          <a:solidFill>
            <a:srgbClr val="CADCFC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0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Deloitte's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 Productivity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AI-Powered Knowledge Management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Recommendation Framework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 |  2025–2026  |  AI &amp; Knowledge Management Practice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17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consultant 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non-value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— searching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information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Productivity Report 2024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00400" y="1143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Productivity Gap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200400" y="17830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PairD exists — but only for Europe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94760" y="2130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Deloitte's in-house GenAI tool was rolled out to 75,000 European employees in 2023, leaving the global majority without access.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971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is the #1 barrier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794760" y="31363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Deloitte survey of 3,235 senior leaders across 24 countries identifies insufficient worker skills as the top obstacle to AI integration.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00400" y="379476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9776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9476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in people, not systems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794760" y="4142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9% of organisations feel ready to address knowledge management — yet it ranks in the top 3 factors influencing company success.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Why This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Opportunity is 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organisations report productivity gains from 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State of AI 2025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68880" y="17830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9659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256032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use AI-powered KM systems by end of 2025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146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Forecast 2025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0" y="17830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9659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466344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revenue growth for AI-led organisations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1772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Research 2024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675120" y="17830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965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676656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truly reimagining their business with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7208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State of AI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Deloitte's Current State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Deloitte Stands Today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916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21945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408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36208" y="22860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PairD launched Oct 2023 — Europe only (75,000 staff)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0" y="29718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11810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36208" y="30632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 AI investment announced — deployment ongoing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669280" y="37490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89534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6208" y="3840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14% have agentic AI ready to deploy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669280" y="452628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67258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36208" y="46177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still developing an agentic strategy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Readiness by category  |  Source: Deloitte Insights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Competitor Benchmarking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Deloitte Compares to Its Peers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301752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148840"/>
                <a:gridCol w="2148840"/>
              </a:tblGrid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4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Deloitte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AI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Refinery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ChatPwC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Trained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 (EU)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550,000 / 780,000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globally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in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billion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$3B AI + $1B LV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billion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4-Pillar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3,000+ use 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Upskilling Programme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LearnVantage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Ambassadors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Recognition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 MQ 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Forrester Wave 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5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00C49A">
              <a:alpha val="8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Gap: Deloitte trained 75,000 employees vs. 550,000 at Accenture — a 7× gap your project directly addresses.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SWOT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Deloitte — AI-Powered Knowledge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PairD platform already deployed (75K employees)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 AI investment committed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and trusted client relationships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AI Institute for research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PairD limited to European geography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34% truly reimagining with AI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readiness just 28%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identified as #1 internal barrier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00C49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firms plan AI-powered KM by end 2025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consulting market growing rapidly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Lilli = 30% time savings benchmark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AI opportunity areas identified internally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E8404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7947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Accenture: 550K trained, AI Refinery platform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Forrester Wave Leader 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Lilli handles 500K queries/month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promoting staff based on AI usage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Root Cause Analysis — 5 Whys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Consultant Productivity Below Potential?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E8404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27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Problem: 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consultant workday is non-value work (searching, switching tools)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2148840"/>
            <a:ext cx="8266176" cy="512064"/>
          </a:xfrm>
          <a:prstGeom prst="roundRect">
            <a:avLst>
              <a:gd name="adj" fmla="val 10714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2221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64792" y="2221992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is a top-3 business issue — yet only 9% of organisations feel ready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" y="2743200"/>
            <a:ext cx="7936992" cy="512064"/>
          </a:xfrm>
          <a:prstGeom prst="roundRect">
            <a:avLst>
              <a:gd name="adj" fmla="val 10714"/>
            </a:avLst>
          </a:prstGeom>
          <a:solidFill>
            <a:srgbClr val="E8960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8163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9384" y="2816352"/>
            <a:ext cx="610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in people, not systems — cultural norm of knowledge hoarding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" y="3337560"/>
            <a:ext cx="7607808" cy="512064"/>
          </a:xfrm>
          <a:prstGeom prst="roundRect">
            <a:avLst>
              <a:gd name="adj" fmla="val 10714"/>
            </a:avLst>
          </a:prstGeom>
          <a:solidFill>
            <a:srgbClr val="263580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410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93976" y="3410712"/>
            <a:ext cx="5779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KM not deployed globally — PairD limited to European offices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" y="3931920"/>
            <a:ext cx="7278624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" y="4005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4: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58568" y="4005072"/>
            <a:ext cx="5449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is #1 barrier — role redesign hasn't followed AI investment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4526280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00C49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599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4599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enterprise-wide AI knowledge strategy — siloed rollout, unaddressed skills gap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5074920"/>
            <a:ext cx="8595360" cy="0"/>
          </a:xfrm>
          <a:prstGeom prst="roundRect">
            <a:avLst/>
          </a:prstGeom>
          <a:solidFill>
            <a:srgbClr val="00C49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3-Tier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Solution — A Staged Approach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C49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0–3 Months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240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PairD Globally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3291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current PairD usage across European offices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onboarding programme for all global regions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KPI: 80% consultant adoption within 90 days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466344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00C49A">
              <a:alpha val="7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4663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35% reduction in search time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27832" y="160020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16916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/>
        </p:spPr>
      </p:sp>
      <p:sp>
        <p:nvSpPr>
          <p:cNvPr id="15" name="Text 12"/>
          <p:cNvSpPr/>
          <p:nvPr/>
        </p:nvSpPr>
        <p:spPr>
          <a:xfrm>
            <a:off x="3319272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3–12 Months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2402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9272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Deloitte Knowledge Hub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64992" y="3291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universal search across all internal content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repository replacing siloed office systems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knowledge-sharing platform (Share &amp; Connect)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319272" y="466344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7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3319272" y="4663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Recover the 41% non-value workday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81344" y="160020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72784" y="16916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23" name="Text 19"/>
          <p:cNvSpPr/>
          <p:nvPr/>
        </p:nvSpPr>
        <p:spPr>
          <a:xfrm>
            <a:off x="6272784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1–3 Years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224028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72784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Deloitte LearnAI Unit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18504" y="32918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upskilling unit modelled on Accenture LearnVantage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AI learning pathways per consultant role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criteria linked to AI fluency certification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272784" y="466344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6272784" y="4663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5%+ EBIT improvement (AI high performers)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Implementation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3-Phase Execution Plan — From 14% to Full Global Scale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0C49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71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371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263580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3716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Years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4108" y="1527048"/>
            <a:ext cx="146304" cy="146304"/>
          </a:xfrm>
          <a:prstGeom prst="ellipse">
            <a:avLst/>
          </a:prstGeom>
          <a:solidFill>
            <a:srgbClr val="00C49A"/>
          </a:solidFill>
          <a:ln/>
        </p:spPr>
      </p:sp>
      <p:sp>
        <p:nvSpPr>
          <p:cNvPr id="13" name="Shape 11"/>
          <p:cNvSpPr/>
          <p:nvPr/>
        </p:nvSpPr>
        <p:spPr>
          <a:xfrm>
            <a:off x="937260" y="1673352"/>
            <a:ext cx="0" cy="201168"/>
          </a:xfrm>
          <a:prstGeom prst="line">
            <a:avLst/>
          </a:prstGeom>
          <a:noFill/>
          <a:ln w="19050">
            <a:solidFill>
              <a:srgbClr val="00C4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1325880" cy="146304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176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PairD global audit &amp; baseline (CTO)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00C49A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KPI set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08860" y="1527048"/>
            <a:ext cx="146304" cy="146304"/>
          </a:xfrm>
          <a:prstGeom prst="ellipse">
            <a:avLst/>
          </a:prstGeom>
          <a:solidFill>
            <a:srgbClr val="00C49A"/>
          </a:solidFill>
          <a:ln/>
        </p:spPr>
      </p:sp>
      <p:sp>
        <p:nvSpPr>
          <p:cNvPr id="20" name="Shape 18"/>
          <p:cNvSpPr/>
          <p:nvPr/>
        </p:nvSpPr>
        <p:spPr>
          <a:xfrm>
            <a:off x="2382012" y="1673352"/>
            <a:ext cx="0" cy="201168"/>
          </a:xfrm>
          <a:prstGeom prst="line">
            <a:avLst/>
          </a:prstGeom>
          <a:noFill/>
          <a:ln w="19050">
            <a:solidFill>
              <a:srgbClr val="00C4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19072" y="1874520"/>
            <a:ext cx="1325880" cy="146304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64792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64792" y="2176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onboarding — all global regions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64792" y="2971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00C49A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764792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completion rate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53612" y="152704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Shape 25"/>
          <p:cNvSpPr/>
          <p:nvPr/>
        </p:nvSpPr>
        <p:spPr>
          <a:xfrm>
            <a:off x="3826764" y="1673352"/>
            <a:ext cx="0" cy="20116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3824" y="1874520"/>
            <a:ext cx="1325880" cy="146304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9544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9544" y="2176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launch (AI Institute)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9544" y="2971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5A623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09544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search time 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98364" y="152704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71516" y="1673352"/>
            <a:ext cx="0" cy="20116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1874520"/>
            <a:ext cx="1325880" cy="146304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54296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10–12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4296" y="2176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Connect platform rollout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54296" y="2971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5A623">
              <a:alpha val="7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654296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satisfaction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43116" y="1527048"/>
            <a:ext cx="146304" cy="146304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6716268" y="1673352"/>
            <a:ext cx="0" cy="201168"/>
          </a:xfrm>
          <a:prstGeom prst="line">
            <a:avLst/>
          </a:prstGeom>
          <a:noFill/>
          <a:ln w="19050">
            <a:solidFill>
              <a:srgbClr val="2635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1874520"/>
            <a:ext cx="1325880" cy="146304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99048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99048" y="2176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LearnAI unit launch (CLO)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99048" y="2971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263580">
              <a:alpha val="7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99048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certified Y2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087868" y="1527048"/>
            <a:ext cx="146304" cy="146304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8161020" y="1673352"/>
            <a:ext cx="0" cy="201168"/>
          </a:xfrm>
          <a:prstGeom prst="line">
            <a:avLst/>
          </a:prstGeom>
          <a:noFill/>
          <a:ln w="19050">
            <a:solidFill>
              <a:srgbClr val="2635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1874520"/>
            <a:ext cx="1325880" cy="146304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54380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43800" y="2176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agents deployed (CHRO)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43800" y="297180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263580">
              <a:alpha val="7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543800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5%+ EBIT impact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Deloitte Insights 2026 | McKinsey AI Report 2025 | Accenture Workforce AI 2024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635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49A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346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0" y="274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Framework Delivers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74720" y="9144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709160" y="9784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 lost to knowledge 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09160" y="1417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benchmark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66160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709160" y="1938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non-value consultant time recaptured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916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Productivity Report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474720" y="28346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6616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7×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709160" y="2898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trained workforce closed vs Accenture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09160" y="3337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Workforce Data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474720" y="37947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26358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66160" y="3886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5%+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4709160" y="3858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improvement for AI high performers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09160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State of AI 2025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474720" y="4754880"/>
            <a:ext cx="5394960" cy="301752"/>
          </a:xfrm>
          <a:prstGeom prst="roundRect">
            <a:avLst>
              <a:gd name="adj" fmla="val 18182"/>
            </a:avLst>
          </a:prstGeom>
          <a:solidFill>
            <a:srgbClr val="00C49A">
              <a:alpha val="8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3474720" y="475488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has the foundation. This framework provides the roadmap to lead.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Deloitte Consultant Productivity Through AI-Powered Knowledge Management</dc:title>
  <dc:subject>PptxGenJS Presentation</dc:subject>
  <dc:creator>Strategic Analysis Project</dc:creator>
  <cp:lastModifiedBy>Strategic Analysis Project</cp:lastModifiedBy>
  <cp:revision>1</cp:revision>
  <dcterms:created xsi:type="dcterms:W3CDTF">2026-06-24T06:44:31Z</dcterms:created>
  <dcterms:modified xsi:type="dcterms:W3CDTF">2026-06-24T06:44:31Z</dcterms:modified>
</cp:coreProperties>
</file>